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Sniglet" charset="1" panose="04070505030100020000"/>
      <p:regular r:id="rId12"/>
    </p:embeddedFont>
    <p:embeddedFont>
      <p:font typeface="ไอติม" charset="1" panose="00000500000000000000"/>
      <p:regular r:id="rId13"/>
    </p:embeddedFont>
    <p:embeddedFont>
      <p:font typeface="Canva Sans Bold" charset="1" panose="020B0803030501040103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498136" y="3588346"/>
            <a:ext cx="18751215" cy="20481146"/>
          </a:xfrm>
          <a:custGeom>
            <a:avLst/>
            <a:gdLst/>
            <a:ahLst/>
            <a:cxnLst/>
            <a:rect r="r" b="b" t="t" l="l"/>
            <a:pathLst>
              <a:path h="20481146" w="18751215">
                <a:moveTo>
                  <a:pt x="0" y="0"/>
                </a:moveTo>
                <a:lnTo>
                  <a:pt x="18751216" y="0"/>
                </a:lnTo>
                <a:lnTo>
                  <a:pt x="18751216" y="20481146"/>
                </a:lnTo>
                <a:lnTo>
                  <a:pt x="0" y="20481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25895" y="-12914637"/>
            <a:ext cx="18751215" cy="20481146"/>
          </a:xfrm>
          <a:custGeom>
            <a:avLst/>
            <a:gdLst/>
            <a:ahLst/>
            <a:cxnLst/>
            <a:rect r="r" b="b" t="t" l="l"/>
            <a:pathLst>
              <a:path h="20481146" w="18751215">
                <a:moveTo>
                  <a:pt x="0" y="0"/>
                </a:moveTo>
                <a:lnTo>
                  <a:pt x="18751215" y="0"/>
                </a:lnTo>
                <a:lnTo>
                  <a:pt x="18751215" y="20481146"/>
                </a:lnTo>
                <a:lnTo>
                  <a:pt x="0" y="20481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59074" y="-1090165"/>
            <a:ext cx="6301816" cy="7059061"/>
          </a:xfrm>
          <a:custGeom>
            <a:avLst/>
            <a:gdLst/>
            <a:ahLst/>
            <a:cxnLst/>
            <a:rect r="r" b="b" t="t" l="l"/>
            <a:pathLst>
              <a:path h="7059061" w="6301816">
                <a:moveTo>
                  <a:pt x="0" y="0"/>
                </a:moveTo>
                <a:lnTo>
                  <a:pt x="6301817" y="0"/>
                </a:lnTo>
                <a:lnTo>
                  <a:pt x="6301817" y="7059061"/>
                </a:lnTo>
                <a:lnTo>
                  <a:pt x="0" y="70590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true" rot="0">
            <a:off x="12763072" y="4036979"/>
            <a:ext cx="6301816" cy="7059061"/>
          </a:xfrm>
          <a:custGeom>
            <a:avLst/>
            <a:gdLst/>
            <a:ahLst/>
            <a:cxnLst/>
            <a:rect r="r" b="b" t="t" l="l"/>
            <a:pathLst>
              <a:path h="7059061" w="6301816">
                <a:moveTo>
                  <a:pt x="6301816" y="7059060"/>
                </a:moveTo>
                <a:lnTo>
                  <a:pt x="0" y="7059060"/>
                </a:lnTo>
                <a:lnTo>
                  <a:pt x="0" y="0"/>
                </a:lnTo>
                <a:lnTo>
                  <a:pt x="6301816" y="0"/>
                </a:lnTo>
                <a:lnTo>
                  <a:pt x="6301816" y="705906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928510" y="8377371"/>
            <a:ext cx="4939574" cy="3819258"/>
          </a:xfrm>
          <a:custGeom>
            <a:avLst/>
            <a:gdLst/>
            <a:ahLst/>
            <a:cxnLst/>
            <a:rect r="r" b="b" t="t" l="l"/>
            <a:pathLst>
              <a:path h="3819258" w="4939574">
                <a:moveTo>
                  <a:pt x="0" y="0"/>
                </a:moveTo>
                <a:lnTo>
                  <a:pt x="4939574" y="0"/>
                </a:lnTo>
                <a:lnTo>
                  <a:pt x="4939574" y="3819258"/>
                </a:lnTo>
                <a:lnTo>
                  <a:pt x="0" y="381925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3993708" y="-1675435"/>
            <a:ext cx="4848524" cy="3748859"/>
          </a:xfrm>
          <a:custGeom>
            <a:avLst/>
            <a:gdLst/>
            <a:ahLst/>
            <a:cxnLst/>
            <a:rect r="r" b="b" t="t" l="l"/>
            <a:pathLst>
              <a:path h="3748859" w="4848524">
                <a:moveTo>
                  <a:pt x="0" y="0"/>
                </a:moveTo>
                <a:lnTo>
                  <a:pt x="4848525" y="0"/>
                </a:lnTo>
                <a:lnTo>
                  <a:pt x="4848525" y="3748859"/>
                </a:lnTo>
                <a:lnTo>
                  <a:pt x="0" y="37488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652278" y="8377371"/>
            <a:ext cx="1980929" cy="3394116"/>
          </a:xfrm>
          <a:custGeom>
            <a:avLst/>
            <a:gdLst/>
            <a:ahLst/>
            <a:cxnLst/>
            <a:rect r="r" b="b" t="t" l="l"/>
            <a:pathLst>
              <a:path h="3394116" w="1980929">
                <a:moveTo>
                  <a:pt x="0" y="0"/>
                </a:moveTo>
                <a:lnTo>
                  <a:pt x="1980929" y="0"/>
                </a:lnTo>
                <a:lnTo>
                  <a:pt x="1980929" y="3394116"/>
                </a:lnTo>
                <a:lnTo>
                  <a:pt x="0" y="33941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0050803">
            <a:off x="11418159" y="-1697058"/>
            <a:ext cx="1980929" cy="3394116"/>
          </a:xfrm>
          <a:custGeom>
            <a:avLst/>
            <a:gdLst/>
            <a:ahLst/>
            <a:cxnLst/>
            <a:rect r="r" b="b" t="t" l="l"/>
            <a:pathLst>
              <a:path h="3394116" w="1980929">
                <a:moveTo>
                  <a:pt x="0" y="0"/>
                </a:moveTo>
                <a:lnTo>
                  <a:pt x="1980929" y="0"/>
                </a:lnTo>
                <a:lnTo>
                  <a:pt x="1980929" y="3394116"/>
                </a:lnTo>
                <a:lnTo>
                  <a:pt x="0" y="339411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124325" y="3876910"/>
            <a:ext cx="12039349" cy="2975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20"/>
              </a:lnSpc>
            </a:pPr>
            <a:r>
              <a:rPr lang="en-US" sz="6000">
                <a:solidFill>
                  <a:srgbClr val="2F3954"/>
                </a:solidFill>
                <a:latin typeface="Sniglet"/>
                <a:ea typeface="Sniglet"/>
                <a:cs typeface="Sniglet"/>
                <a:sym typeface="Sniglet"/>
              </a:rPr>
              <a:t>ASSIGNMENT 3 </a:t>
            </a:r>
          </a:p>
          <a:p>
            <a:pPr algn="ctr">
              <a:lnSpc>
                <a:spcPts val="5820"/>
              </a:lnSpc>
            </a:pPr>
            <a:r>
              <a:rPr lang="en-US" sz="6000">
                <a:solidFill>
                  <a:srgbClr val="2F3954"/>
                </a:solidFill>
                <a:latin typeface="Sniglet"/>
                <a:ea typeface="Sniglet"/>
                <a:cs typeface="Sniglet"/>
                <a:sym typeface="Sniglet"/>
              </a:rPr>
              <a:t>PROJECT 1: RSA-BASED PUBLIC KEY DISTRIBUTION </a:t>
            </a:r>
          </a:p>
          <a:p>
            <a:pPr algn="ctr">
              <a:lnSpc>
                <a:spcPts val="5820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4011064" y="6473962"/>
            <a:ext cx="10211181" cy="15381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5"/>
              </a:lnSpc>
            </a:pPr>
            <a:r>
              <a:rPr lang="en-US" sz="5231">
                <a:solidFill>
                  <a:srgbClr val="2F3954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Pranjal Bharti 2021080</a:t>
            </a:r>
          </a:p>
          <a:p>
            <a:pPr algn="ctr">
              <a:lnSpc>
                <a:spcPts val="6015"/>
              </a:lnSpc>
            </a:pPr>
            <a:r>
              <a:rPr lang="en-US" sz="5231">
                <a:solidFill>
                  <a:srgbClr val="2F3954"/>
                </a:solidFill>
                <a:latin typeface="ไอติม"/>
                <a:ea typeface="ไอติม"/>
                <a:cs typeface="ไอติม"/>
                <a:sym typeface="ไอติม"/>
              </a:rPr>
              <a:t>Daksh Bhasin 2021035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36618" y="599773"/>
            <a:ext cx="5014764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INTRODUCTION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23149" y="2981325"/>
            <a:ext cx="16841702" cy="4791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OBJECTIVE: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DEMONSTRATE A SECURE COMMUNICATION PROTOCOL COMBINING PUBLIC-KEY (RSA) AND SESSION KEY CRYPTOGRAPHY.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OVERVIEW: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IMPLEMENTATION OF A PUBLIC KEY DISTRIBUTION AUTHORITY (PKDA) THAT HANDLES KEY DISTRIBUTION AND MESSAGE ENCRYPTION.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USE OF NONCES AND TIMESTAMPS TO PREVENT REPLAY ATTACKS AND ENSURE MESSAGE FRESHNESS.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941825" y="701645"/>
            <a:ext cx="10404351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CRYPTOGRAPHIC COMPONENTS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795361"/>
            <a:ext cx="18288000" cy="5857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RSA PUBLIC-KEY CRYPTOGRAPHY: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KEY GENERATION: USES FUNCTIONS LIKE GCD, MOD_INV, AND GENERATE_KEYPAIR TO CREATE RSA KEY PAIRS.</a:t>
            </a:r>
          </a:p>
          <a:p>
            <a:pPr algn="l" marL="647700" indent="-323850" lvl="1">
              <a:lnSpc>
                <a:spcPts val="4200"/>
              </a:lnSpc>
              <a:spcBef>
                <a:spcPct val="0"/>
              </a:spcBef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ENCRYPTION/DECRYPTION:  </a:t>
            </a: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FOR PUBLIC-KEY OPERATIONS, USES POW() WITH MODULUS ARITHMETIC.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SESSION KEY ENCRYPTION: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 LIGHTWEIGHT SYMMETRIC ENCRYPTION USING XOR (ENCRYPT_WITH_SESSION_KEY AND DECRYPT_WITH_SESSION_KEY).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SESSION KEYS ARE GENERATED USING RANDOM NUMBERS AND NONCE FUNCTIONS.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334000" y="914400"/>
            <a:ext cx="76200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  <a:spcBef>
                <a:spcPct val="0"/>
              </a:spcBef>
            </a:pPr>
            <a:r>
              <a:rPr lang="en-US" sz="6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COMMUNICATION FLOW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0" y="2123138"/>
            <a:ext cx="18288000" cy="799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STEP 1: SESSION KEY REQUEST BY INITIATOR A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INITIATOR A SENDS A REQUEST INCLUDING ITS PUBLIC KEY, NONCE, AND TIMESTAMP.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PKDA PROCESSES AND RETURNS AN ENCRYPTED SESSION KEY.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STEP 2: COMMUNICATION BETWEEN INITIATOR A AND RESPONDER B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INITIATOR A SENDS ITS IDENTITY AND NONCE TO RESPONDER B.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RESPONDER B SIMILARLY REQUESTS A SESSION KEY FROM PKDA.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 CHALLENGE-RESPONSE MECHANISM USING NONCES VERIFIES THE IDENTITY.</a:t>
            </a:r>
          </a:p>
          <a:p>
            <a:pPr algn="just">
              <a:lnSpc>
                <a:spcPts val="4200"/>
              </a:lnSpc>
            </a:pP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STEP 3: SECURE MESSAGE EXCHANGE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ONCE THE SESSION KEY IS ESTABLISHED, BOTH PARTIES ENCRYPT AND DECRYPT MESSAGES USING XOR ENCRYPTION.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9118" y="2069361"/>
            <a:ext cx="17429010" cy="6269747"/>
          </a:xfrm>
          <a:custGeom>
            <a:avLst/>
            <a:gdLst/>
            <a:ahLst/>
            <a:cxnLst/>
            <a:rect r="r" b="b" t="t" l="l"/>
            <a:pathLst>
              <a:path h="6269747" w="17429010">
                <a:moveTo>
                  <a:pt x="0" y="0"/>
                </a:moveTo>
                <a:lnTo>
                  <a:pt x="17429011" y="0"/>
                </a:lnTo>
                <a:lnTo>
                  <a:pt x="17429011" y="6269747"/>
                </a:lnTo>
                <a:lnTo>
                  <a:pt x="0" y="6269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76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094194" y="159703"/>
            <a:ext cx="8424044" cy="1566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CODE OUTPUT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671507" y="3065629"/>
            <a:ext cx="8944985" cy="2545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46"/>
              </a:lnSpc>
              <a:spcBef>
                <a:spcPct val="0"/>
              </a:spcBef>
            </a:pPr>
            <a:r>
              <a:rPr lang="en-US" sz="14890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THANKYOU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DAGjMj4p69s</dc:identifier>
  <dcterms:modified xsi:type="dcterms:W3CDTF">2011-08-01T06:04:30Z</dcterms:modified>
  <cp:revision>1</cp:revision>
  <dc:title>Blue Watercolor Leaves Illustration Presentation</dc:title>
</cp:coreProperties>
</file>